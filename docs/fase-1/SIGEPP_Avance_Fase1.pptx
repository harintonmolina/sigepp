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Situación actual</c:v>
                </c:pt>
              </c:strCache>
            </c:strRef>
          </c:tx>
          <c:spPr>
            <a:solidFill>
              <a:srgbClr val="A6AD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020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Pasos del flujo</c:v>
                  </c:pt>
                  <c:pt idx="1">
                    <c:v>Pasos manuales</c:v>
                  </c:pt>
                  <c:pt idx="2">
                    <c:v>Días a la asignación</c:v>
                  </c:pt>
                  <c:pt idx="3">
                    <c:v>Transcripciones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11</c:v>
                </c:pt>
                <c:pt idx="2">
                  <c:v>18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SIGEPP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020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Pasos del flujo</c:v>
                  </c:pt>
                  <c:pt idx="1">
                    <c:v>Pasos manuales</c:v>
                  </c:pt>
                  <c:pt idx="2">
                    <c:v>Días a la asignación</c:v>
                  </c:pt>
                  <c:pt idx="3">
                    <c:v>Transcripciones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020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20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12700" cap="flat">
              <a:solidFill>
                <a:srgbClr val="DD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9595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Primera iteración</c:v>
                </c:pt>
              </c:strCache>
            </c:strRef>
          </c:tx>
          <c:spPr>
            <a:solidFill>
              <a:srgbClr val="A6AD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020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Global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92</c:v>
                </c:pt>
                <c:pt idx="1">
                  <c:v>58</c:v>
                </c:pt>
                <c:pt idx="2">
                  <c:v>83</c:v>
                </c:pt>
                <c:pt idx="3">
                  <c:v>67</c:v>
                </c:pt>
                <c:pt idx="4">
                  <c:v>75</c:v>
                </c:pt>
                <c:pt idx="5">
                  <c:v>92</c:v>
                </c:pt>
                <c:pt idx="6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Tras los ajustes</c:v>
                </c:pt>
              </c:strCache>
            </c:strRef>
          </c:tx>
          <c:spPr>
            <a:solidFill>
              <a:srgbClr val="00B0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020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Global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92</c:v>
                </c:pt>
                <c:pt idx="1">
                  <c:v>92</c:v>
                </c:pt>
                <c:pt idx="2">
                  <c:v>100</c:v>
                </c:pt>
                <c:pt idx="3">
                  <c:v>92</c:v>
                </c:pt>
                <c:pt idx="4">
                  <c:v>92</c:v>
                </c:pt>
                <c:pt idx="5">
                  <c:v>92</c:v>
                </c:pt>
                <c:pt idx="6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020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20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DD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9595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avance de la Fase 1. Duración prevista: 15 minutos. El objetivo es demostrar que el alcance está cerrado, los requisitos especificados y la arquitectura decidida y justificada.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de los cinco objetivos específicos de la Fase 1, en el orden del documento entregado.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cifras provienen del levantamiento propio: entrevista al coordinador, revisión del registro del período anterior y encuesta a 34 estudiantes. No son estimaciones teóricas.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cuellos de botella marcados son los puntos donde el proceso se detiene por completo: verificación manual de elegibilidad, circulación física de cartas y firmas, y transcripción final de notas.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objetivos 6 y 7 corresponden a las Fases 2 y 3: implementación y despliegue.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técnicas complementarias aplicadas entre el 15 y el 22 de agosto de 2026. Cada hallazgo se trazó hasta un requisito concreto.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máquina de estados del recurso Asignación gobierna qué acción está disponible en cada momento: BORRADOR, POSTULADA, PRESELECCIONADA, ASIGNADA, EN EJECUCIÓN, EVALUADA, CERRADA.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estado se materializa en la base de datos y se refleja en la línea de tiempo de seis hitos del expediente del estudiante (WF-04).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UWE fue formulado cuando cada nodo navegacional era una página del servidor. En una SPA la navegación ocurre en el cliente; por eso se reinterpretaron los estereotipos (Tabla 2.7 del documento).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Ocho actores, incluidos dos actores de sistema: el consumidor externo de la API pública de plazas y el servicio de correo saliente.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generación de HTML en el servidor de aplicación ni acceso directo del cliente a la base de datos. El monolito modular está preparado para extraer un módulo como servicio si la carga lo justificara.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 endpoints catalogados. Se eligió deliberadamente el nivel 2 de Richardson: HATEOAS completo añadiría complejidad al cliente sin beneficio con un consumidor único y conocido.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reglas de negocio no viven solo en el código: se materializan como restricciones declarativas del gestor relacional, que es el argumento central para elegir PostgreSQL sobre una base documental.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la infraestructura opera en capas gratuitas con escalado a cero: costo operativo de USD 0 dentro del volumen previsto y sin administración de sistemas, que es lo que exigían las tres limitaciones de la organización.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árbol de la segunda iteración del tree testing: el que gobierna los wireframes. Los estereotipos UWE se reinterpretan como rutas del enrutador del cliente, no como páginas del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tree testing presenta solo el árbol de etiquetas, sin diseño visual: aísla la calidad de la estructura y del vocabulario, que es exactamente lo que define el modelo navegacional UWE.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wireframe indica el nodo navegacional que representa, los componentes de presentación empleados y los requisitos que materializa. WF-01 y WF-05 incorporan los ajustes del tree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celda representa una semana. La Fase 1 está cerrada; la semana 4 corresponde al Sprint 1, que arranca con la prueba de concepto vertical prevista como mitigación del riesgo R-04.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abarca once semanas, del 15 de agosto al 7 de noviembre de 2026. S0 está cerrado con la entrega de este documento; S1 se encuentra iniciando.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riesgos con probabilidad alta se mitigan con decisiones ya tomadas, no con intenciones: rúbrica fija en S2, holgura calendarizada y prueba de concepto vertical en la primera semana de S1.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Recomendación pendiente de gestión externa: solicitar a la Dirección de TIC acceso de solo lectura al registro académico, lo que eliminaría la carga manual de constancias.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Preguntas frecuentes previstas: por qué monolito modular y no microservicios; por qué REST y no GraphQL; cómo se resuelve la verificación de elegibilidad sin acceso al registro académico.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2E5496">
              <a:alpha val="45000"/>
            </a:srgbClr>
          </a:solidFill>
          <a:ln w="12700">
            <a:solidFill>
              <a:srgbClr val="2E54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023360"/>
            <a:ext cx="2743200" cy="2743200"/>
          </a:xfrm>
          <a:prstGeom prst="ellipse">
            <a:avLst/>
          </a:prstGeom>
          <a:solidFill>
            <a:srgbClr val="ED7D31">
              <a:alpha val="70000"/>
            </a:srgbClr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8580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Ingeniería · Recinto Universitario Simón Bolívar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92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Sistemas en Internet · Ingeniería en Sistemas, V año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del Ejercicio Profesional y Prácticas Profesionales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493008"/>
            <a:ext cx="3246120" cy="365760"/>
          </a:xfrm>
          <a:prstGeom prst="roundRect">
            <a:avLst>
              <a:gd name="adj" fmla="val 25000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4930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· FASE 1 COMPLETADA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3493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Requisitos y Arquitectura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177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Elaborado por
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Br. Leandro Enrique Lacayo Matus
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Br. Harinton Alberto Molina Narváez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4617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
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Walter Quintero
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Managua, Nicaragua · Agosto de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presenta en este avance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9824" cy="960120"/>
          </a:xfrm>
          <a:prstGeom prst="roundRect">
            <a:avLst>
              <a:gd name="adj" fmla="val 5714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773936"/>
            <a:ext cx="438912" cy="43891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6550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y objetivos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9842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actual medida en campo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90488" y="1508760"/>
            <a:ext cx="5449824" cy="960120"/>
          </a:xfrm>
          <a:prstGeom prst="roundRect">
            <a:avLst>
              <a:gd name="adj" fmla="val 5714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773936"/>
            <a:ext cx="438912" cy="43891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28232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31736" y="16550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Levantamiento de información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31736" y="19842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técnicas · 12 participantes · 34 encuestas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679192"/>
            <a:ext cx="5449824" cy="960120"/>
          </a:xfrm>
          <a:prstGeom prst="roundRect">
            <a:avLst>
              <a:gd name="adj" fmla="val 5714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2944368"/>
            <a:ext cx="438912" cy="43891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2944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28254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Rediseño del proceso (TO-BE)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31546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Carriles AS-IS, TO-BE y máquina de estados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0488" y="2679192"/>
            <a:ext cx="5449824" cy="960120"/>
          </a:xfrm>
          <a:prstGeom prst="roundRect">
            <a:avLst>
              <a:gd name="adj" fmla="val 5714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2944368"/>
            <a:ext cx="438912" cy="43891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28232" y="2944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31736" y="28254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requisitos UWE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31736" y="31546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RF · 14 RNF · diagrama de casos de uso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849624"/>
            <a:ext cx="5449824" cy="960120"/>
          </a:xfrm>
          <a:prstGeom prst="roundRect">
            <a:avLst>
              <a:gd name="adj" fmla="val 5714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4114800"/>
            <a:ext cx="438912" cy="43891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39959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stack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89888" y="432511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capas · modelo de datos · despliegue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90488" y="3849624"/>
            <a:ext cx="5449824" cy="960120"/>
          </a:xfrm>
          <a:prstGeom prst="roundRect">
            <a:avLst>
              <a:gd name="adj" fmla="val 5714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8232" y="4114800"/>
            <a:ext cx="438912" cy="43891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28232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31736" y="39959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navegacional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031736" y="432511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navegación, tree testing y wireframes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020056"/>
            <a:ext cx="5449824" cy="960120"/>
          </a:xfrm>
          <a:prstGeom prst="roundRect">
            <a:avLst>
              <a:gd name="adj" fmla="val 5714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" y="5285232"/>
            <a:ext cx="438912" cy="43891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6384" y="5285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389888" y="51663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y riesgos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389888" y="54955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Gantt, 5 sprints y matriz de 9 riesgos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90488" y="5020056"/>
            <a:ext cx="5449824" cy="960120"/>
          </a:xfrm>
          <a:prstGeom prst="roundRect">
            <a:avLst>
              <a:gd name="adj" fmla="val 5714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8232" y="5285232"/>
            <a:ext cx="438912" cy="438912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28232" y="5285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031736" y="51663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Fase 2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7031736" y="54955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del avance y próximos pasos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I · PLANTEAMIENTO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vive en papel, correo y hojas de cálculo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gestión del Ejercicio Profesional del RUSB se ejecuta hoy de forma manual y fragmentada: la información reside simultáneamente en formatos impresos, hojas de cálculo locales, hilos de correo y grupos de mensajería que no se comunican entre sí.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816352"/>
            <a:ext cx="146304" cy="146304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69748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transición depende de una acción humana: nada avanza solo.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474720"/>
            <a:ext cx="146304" cy="146304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335584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estado del trámite solo existe en la hoja de cálculo del coordinador.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4133088"/>
            <a:ext cx="146304" cy="146304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4014216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expediente se custodia en físico, sin respaldo ni trazabilidad.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791456"/>
            <a:ext cx="146304" cy="146304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4672584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existen indicadores históricos para la acreditación del programa.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1481328"/>
            <a:ext cx="2587752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01968" y="17556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5054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hábiles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27980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hasta la asignación de una plaza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71432" y="1481328"/>
            <a:ext cx="2587752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72600" y="17556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82 %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25054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estudiantes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372600" y="27980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desconoció el estado de su trámite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3630168"/>
            <a:ext cx="2587752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01968" y="390448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46542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transcripciones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01968" y="49469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mismo dato a lo largo del proceso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71432" y="3630168"/>
            <a:ext cx="2587752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72600" y="390448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2,400</a:t>
            </a:r>
            <a:endParaRPr lang="en-US" sz="4400" dirty="0"/>
          </a:p>
        </p:txBody>
      </p:sp>
      <p:sp>
        <p:nvSpPr>
          <p:cNvPr id="27" name="Text 25"/>
          <p:cNvSpPr txBox="1"/>
          <p:nvPr/>
        </p:nvSpPr>
        <p:spPr>
          <a:xfrm>
            <a:off x="9372600" y="46542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hojas de papel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372600" y="49469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consumidas por semestre en formatos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321808"/>
            <a:ext cx="5477256" cy="82296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" y="532180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dar trazabilidad completa a este proceso sin costo de infraestructura para la organización?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III · FIGURA 3.1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actual en carriles: 14 pasos, 3 cuellos de botella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4415" cy="822960"/>
          </a:xfrm>
          <a:prstGeom prst="rect">
            <a:avLst/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72768"/>
            <a:ext cx="1417320" cy="822960"/>
          </a:xfrm>
          <a:prstGeom prst="rect">
            <a:avLst/>
          </a:prstGeom>
          <a:solidFill>
            <a:srgbClr val="E7EAF2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7276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9441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68880"/>
            <a:ext cx="1417320" cy="822960"/>
          </a:xfrm>
          <a:prstGeom prst="rect">
            <a:avLst/>
          </a:prstGeom>
          <a:solidFill>
            <a:srgbClr val="EFF1F6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688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364992"/>
            <a:ext cx="11094415" cy="822960"/>
          </a:xfrm>
          <a:prstGeom prst="rect">
            <a:avLst/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364992"/>
            <a:ext cx="1417320" cy="822960"/>
          </a:xfrm>
          <a:prstGeom prst="rect">
            <a:avLst/>
          </a:prstGeom>
          <a:solidFill>
            <a:srgbClr val="E7EAF2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36499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61104"/>
            <a:ext cx="1109441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261104"/>
            <a:ext cx="1417320" cy="822960"/>
          </a:xfrm>
          <a:prstGeom prst="rect">
            <a:avLst/>
          </a:prstGeom>
          <a:solidFill>
            <a:srgbClr val="EFF1F6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261104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académico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84832" y="1664208"/>
            <a:ext cx="1764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3C9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57984" y="1664208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Envía plaza por correo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0176" y="1664208"/>
            <a:ext cx="1764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3C9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53328" y="1664208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(9) Entrevista y selecciona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875520" y="1664208"/>
            <a:ext cx="1764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3C9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48672" y="1664208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(13) Llena evaluación en papel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84832" y="2560320"/>
            <a:ext cx="1764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3C9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57984" y="2560320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(1)(3)(4) Solicita, transcribe y publica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032504" y="2560320"/>
            <a:ext cx="1764792" cy="640080"/>
          </a:xfrm>
          <a:prstGeom prst="roundRect">
            <a:avLst>
              <a:gd name="adj" fmla="val 7143"/>
            </a:avLst>
          </a:prstGeom>
          <a:solidFill>
            <a:srgbClr val="FBEAEA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05656" y="2560320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(7) Verifica elegibilidad manualmente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0176" y="2560320"/>
            <a:ext cx="1764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3C9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53328" y="2560320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(8) Envía candidatos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27848" y="2560320"/>
            <a:ext cx="1764792" cy="640080"/>
          </a:xfrm>
          <a:prstGeom prst="roundRect">
            <a:avLst>
              <a:gd name="adj" fmla="val 7143"/>
            </a:avLst>
          </a:prstGeom>
          <a:solidFill>
            <a:srgbClr val="FBEAEA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01000" y="2560320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(10)(11) Cartas y firmas físicas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875520" y="2560320"/>
            <a:ext cx="1764792" cy="640080"/>
          </a:xfrm>
          <a:prstGeom prst="roundRect">
            <a:avLst>
              <a:gd name="adj" fmla="val 7143"/>
            </a:avLst>
          </a:prstGeom>
          <a:solidFill>
            <a:srgbClr val="FBEAEA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48672" y="2560320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(14) Transcribe notas y elabora acta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84832" y="3456432"/>
            <a:ext cx="1764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3C9D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157984" y="3456432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Consulta el mural físico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032504" y="3456432"/>
            <a:ext cx="1764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3C9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05656" y="3456432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 Llena la solicitud a mano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27848" y="3456432"/>
            <a:ext cx="1764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3C9D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01000" y="3456432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(12) Entrega bitácoras impresas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27848" y="4352544"/>
            <a:ext cx="1764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3C9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01000" y="4352544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Supervisión informal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875520" y="4352544"/>
            <a:ext cx="1764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3C9D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948672" y="4352544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(13) Llena evaluación en papel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77056" y="5212080"/>
            <a:ext cx="128016" cy="146304"/>
          </a:xfrm>
          <a:prstGeom prst="right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24728" y="5212080"/>
            <a:ext cx="128016" cy="146304"/>
          </a:xfrm>
          <a:prstGeom prst="right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2400" y="5212080"/>
            <a:ext cx="128016" cy="146304"/>
          </a:xfrm>
          <a:prstGeom prst="right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20072" y="5212080"/>
            <a:ext cx="128016" cy="146304"/>
          </a:xfrm>
          <a:prstGeom prst="right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5394960"/>
            <a:ext cx="11094415" cy="731520"/>
          </a:xfrm>
          <a:prstGeom prst="roundRect">
            <a:avLst>
              <a:gd name="adj" fmla="val 75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2960" y="539496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días hábiles desde la publicación de la plaza hasta la asignación formal  ·  11 de los 14 pasos son enteramente manuales  ·  el flujo se detiene en tres puntos a la espera de una acción humana.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I · OBJETIVOS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propuso y qué se cumplió en esta fase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4415" cy="1207008"/>
          </a:xfrm>
          <a:prstGeom prst="roundRect">
            <a:avLst>
              <a:gd name="adj" fmla="val 454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27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883664"/>
            <a:ext cx="10509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 sistema de información web, bajo el paradigma de la Web Moderna con arquitectura desacoplada y servicios web RESTful, que centralice y automatice la gestión del Ejercicio Profesional del RUSB con trazabilidad, seguridad y costo de infraestructura nulo para la organización.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 de la Fase 1 — los cinco alcanzados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73552"/>
            <a:ext cx="11094415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3374136"/>
            <a:ext cx="329184" cy="329184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3374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" y="327355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la situación actual y modelar el negocio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3273552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Actores, procesos, reglas y puntos de dolor (AS-IS).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95344"/>
            <a:ext cx="11094415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" y="3995928"/>
            <a:ext cx="329184" cy="329184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389534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Especificar requisitos con metodología UWE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3895344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de procesos y navegacionales.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517136"/>
            <a:ext cx="11094415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" y="4617720"/>
            <a:ext cx="329184" cy="329184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" y="451713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y justificar la arquitectura y el stack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4517136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Considerando las limitaciones reales de la organización.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138928"/>
            <a:ext cx="11094415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" y="5239512"/>
            <a:ext cx="329184" cy="329184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4944" y="5239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" y="513892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el modelo navegacional y de presentación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897880" y="5138928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 con tree testing y 8 wireframes.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" y="5861304"/>
            <a:ext cx="329184" cy="329184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944" y="5861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" y="576072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Elaborar la planificación con herramientas ágiles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897880" y="576072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Gantt, Kanban, roles y gestión de riesgos.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III · SITUACIÓN ACTUAL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diagnóstico se levantó en campo, no en la teoría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67208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92224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16459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 semiestructurada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35024" y="19568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Coordinador del programa · 1 h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1536192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completo y cuellos de botella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67208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880360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35024" y="2734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 a tutores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335024" y="3044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docentes tutores · 30 min c/u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2624328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Necesidades de seguimiento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12464"/>
            <a:ext cx="67208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968496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35024" y="38221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 en línea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335024" y="41330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estudiantes de quinto año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3712464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Percepción y dispositivo de acceso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672084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5056632"/>
            <a:ext cx="420624" cy="420624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056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35024" y="49103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documental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335024" y="522122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Formatos y registros del período anterior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4800600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de pérdida documental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1536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de la encuesta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89520" y="1938528"/>
            <a:ext cx="4050792" cy="1298448"/>
          </a:xfrm>
          <a:prstGeom prst="roundRect">
            <a:avLst>
              <a:gd name="adj" fmla="val 4225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1812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71 %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7818120" y="25146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accede a los servicios universitarios desde el teléfono móvil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818120" y="29077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 el diseño mobile-first (RNF-03)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89520" y="3401568"/>
            <a:ext cx="4050792" cy="1298448"/>
          </a:xfrm>
          <a:prstGeom prst="roundRect">
            <a:avLst>
              <a:gd name="adj" fmla="val 4225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1812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82 %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7818120" y="397764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supo en qué estado estaba su trámite en algún momento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818120" y="43708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 del problema P-03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89520" y="4864608"/>
            <a:ext cx="4050792" cy="1298448"/>
          </a:xfrm>
          <a:prstGeom prst="roundRect">
            <a:avLst>
              <a:gd name="adj" fmla="val 4225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18120" y="4937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64 %</a:t>
            </a:r>
            <a:endParaRPr lang="en-US" sz="2800" dirty="0"/>
          </a:p>
        </p:txBody>
      </p:sp>
      <p:sp>
        <p:nvSpPr>
          <p:cNvPr id="39" name="Text 37"/>
          <p:cNvSpPr txBox="1"/>
          <p:nvPr/>
        </p:nvSpPr>
        <p:spPr>
          <a:xfrm>
            <a:off x="7818120" y="544068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señaló la búsqueda de plaza como la etapa más difícil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818120" y="58338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 de la bolsa de plazas con filtros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III · PROCESO PROPUESTO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rediseño TO-BE reduce el flujo a menos de la mitad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17904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517904"/>
            <a:ext cx="40965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51790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−57 %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098280" y="151790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del flujo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543800" y="2304288"/>
            <a:ext cx="40965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26680" y="23042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−82 %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9098280" y="23042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 manuales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43800" y="3090672"/>
            <a:ext cx="40965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26680" y="30906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−78 %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098280" y="30906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asignación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543800" y="3877056"/>
            <a:ext cx="40965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26680" y="387705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−100 %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9098280" y="387705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de papel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543800" y="4754880"/>
            <a:ext cx="4096512" cy="969264"/>
          </a:xfrm>
          <a:prstGeom prst="roundRect">
            <a:avLst>
              <a:gd name="adj" fmla="val 566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54112" y="4864608"/>
            <a:ext cx="3703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6 pasos del proceso propuesto, 4 los ejecuta directamente su responsable en el sistema y 2 son automáticos.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III · TABLA 3.7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de la Asignación: la máquina de estados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618488" cy="804672"/>
          </a:xfrm>
          <a:prstGeom prst="roundRect">
            <a:avLst>
              <a:gd name="adj" fmla="val 681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572768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21992" y="1883664"/>
            <a:ext cx="164592" cy="18288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32304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65176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RN-01, RN-03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41448" y="1572768"/>
            <a:ext cx="1618488" cy="804672"/>
          </a:xfrm>
          <a:prstGeom prst="roundRect">
            <a:avLst>
              <a:gd name="adj" fmla="val 681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96312" y="1572768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POSTULADA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1883664"/>
            <a:ext cx="164592" cy="18288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41448" y="2432304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empresarial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395728" y="265176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preselecciona o rechaza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34256" y="1572768"/>
            <a:ext cx="1618488" cy="804672"/>
          </a:xfrm>
          <a:prstGeom prst="roundRect">
            <a:avLst>
              <a:gd name="adj" fmla="val 681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1572768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PRESELEC-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CIONADA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07608" y="1883664"/>
            <a:ext cx="164592" cy="18288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34256" y="2432304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Coordinador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288536" y="265176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RN-02, RN-05, RN-06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27064" y="1572768"/>
            <a:ext cx="1618488" cy="804672"/>
          </a:xfrm>
          <a:prstGeom prst="roundRect">
            <a:avLst>
              <a:gd name="adj" fmla="val 6818"/>
            </a:avLst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81928" y="1572768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ASIGNADA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00416" y="1883664"/>
            <a:ext cx="164592" cy="18288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27064" y="2432304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181344" y="265176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RN-07: plan aprobado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119872" y="1572768"/>
            <a:ext cx="1618488" cy="804672"/>
          </a:xfrm>
          <a:prstGeom prst="roundRect">
            <a:avLst>
              <a:gd name="adj" fmla="val 6818"/>
            </a:avLst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74736" y="1572768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EN_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793224" y="1883664"/>
            <a:ext cx="164592" cy="18288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19872" y="2432304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074152" y="265176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RN-09: horas mínimas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012680" y="1572768"/>
            <a:ext cx="1618488" cy="804672"/>
          </a:xfrm>
          <a:prstGeom prst="roundRect">
            <a:avLst>
              <a:gd name="adj" fmla="val 6818"/>
            </a:avLst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67544" y="1572768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EN_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0012680" y="2432304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966960" y="2651760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RN-10: ambas evaluaciones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18211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finales y salidas alternativas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3566160"/>
            <a:ext cx="352958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3749040"/>
            <a:ext cx="2148840" cy="310896"/>
          </a:xfrm>
          <a:prstGeom prst="roundRect">
            <a:avLst>
              <a:gd name="adj" fmla="val 29412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9808" y="37490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APROBADA / REPROBADA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749808" y="4133088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calculado automáticamente cuando se reciben las dos evaluaciones (RN-10).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288536" y="3566160"/>
            <a:ext cx="352958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9704" y="3749040"/>
            <a:ext cx="2148840" cy="310896"/>
          </a:xfrm>
          <a:prstGeom prst="roundRect">
            <a:avLst>
              <a:gd name="adj" fmla="val 29412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89704" y="37490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RECHAZADA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489704" y="4133088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POSTULADA, cuando el tutor empresarial descarta al candidato tras la entrevista.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28432" y="3566160"/>
            <a:ext cx="352958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0" y="3749040"/>
            <a:ext cx="2148840" cy="310896"/>
          </a:xfrm>
          <a:prstGeom prst="roundRect">
            <a:avLst>
              <a:gd name="adj" fmla="val 29412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29600" y="37490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CANCELADA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229600" y="4133088"/>
            <a:ext cx="3127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cualquier estado. Solo el coordinador, y con justificación registrada en auditoría.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498348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2960" y="49834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importa: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máquina es el corazón del modelo de procesos UWE. Determina qué acciones ofrece la interfaz en cada momento y qué transiciones acepta la API; tres de las seis las dispara el sistema sin intervención humana.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IV · INGENIERÍA DE REQUISITOS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UWE, reinterpretado para aplicaciones de página única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624328" cy="1024128"/>
          </a:xfrm>
          <a:prstGeom prst="roundRect">
            <a:avLst>
              <a:gd name="adj" fmla="val 535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7276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848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55848" y="1481328"/>
            <a:ext cx="2624328" cy="1024128"/>
          </a:xfrm>
          <a:prstGeom prst="roundRect">
            <a:avLst>
              <a:gd name="adj" fmla="val 535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7016" y="157276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57016" y="20848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funcionales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1481328"/>
            <a:ext cx="2624328" cy="1024128"/>
          </a:xfrm>
          <a:prstGeom prst="roundRect">
            <a:avLst>
              <a:gd name="adj" fmla="val 535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4224" y="157276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0848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no funcionales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70264" y="1481328"/>
            <a:ext cx="2624328" cy="1024128"/>
          </a:xfrm>
          <a:prstGeom prst="roundRect">
            <a:avLst>
              <a:gd name="adj" fmla="val 535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71432" y="157276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171432" y="20848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negocio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5449824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" y="2944368"/>
            <a:ext cx="182880" cy="182880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287121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de procesos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" y="321868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 el sistema, con independencia de cómo se llegue.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58444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CU-04 Postularse a una plaza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CU-06 Confirmar asignación y designar tutor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CU-08 Registrar bitácora quincenal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CU-10 Evaluar desempeño del estudiante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90488" y="2743200"/>
            <a:ext cx="5449824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8232" y="2944368"/>
            <a:ext cx="182880" cy="1828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39128" y="287121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navegacionales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428232" y="321868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el usuario recorre el espacio de información.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3584448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CUN-01 Explorar y localizar una plaza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CUN-02 Completar el expediente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CUN-03 Gestionar la bandeja de aprobaciones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CUN-04 Publicar una plaza (organización)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175504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175504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trazabilidad:  </a:t>
            </a:r>
            <a:pPr indent="0" marL="0">
              <a:buNone/>
            </a:pPr>
            <a:r>
              <a:rPr lang="en-US" sz="12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→ requisito → caso de uso → interfaz. Ninguna funcionalidad especificada carece de un problema real que la justifique.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IV · FIGURA 4.1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general de casos de uso de procesos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0" y="1463040"/>
            <a:ext cx="6766560" cy="4462272"/>
          </a:xfrm>
          <a:prstGeom prst="roundRect">
            <a:avLst>
              <a:gd name="adj" fmla="val 820"/>
            </a:avLst>
          </a:prstGeom>
          <a:solidFill>
            <a:srgbClr val="F7F7F9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0" y="15361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SIGEPP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1883664"/>
            <a:ext cx="30175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72384" y="197510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estudiante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267712"/>
            <a:ext cx="26883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CU-03 Buscar y filtrar plazas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CU-04 Postularse a una plaza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CU-07 Elaborar plan de trabajo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CU-08 Registrar bitácora quincenal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1883664"/>
            <a:ext cx="30175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55664" y="197510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la organización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267712"/>
            <a:ext cx="26883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CU-01 Registrar organización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CU-02 Publicar plaza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CU-05 Preseleccionar candidatos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0" y="3438144"/>
            <a:ext cx="30175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72384" y="352958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Supervisión académica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822192"/>
            <a:ext cx="26883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CU-07b Aprobar plan de trabajo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CU-09 Revisar bitácora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CU-10 Evaluar desempeño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CU-14 Seguimiento de tutorados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3438144"/>
            <a:ext cx="30175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55664" y="352958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 del programa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822192"/>
            <a:ext cx="26883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CU-02b Aprobar plaza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CU-06 Confirmar asignación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CU-11 Consolidar y publicar notas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CU-15 Tablero de indicadores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0" y="4992624"/>
            <a:ext cx="6400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72384" y="5065776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Automatismos e integración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072384" y="532180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CU-17 Consumir API pública de plazas   ·   CU-18 Enviar notificaciones automáticas   ·   CU-19 Generar alertas de atraso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700784"/>
            <a:ext cx="1920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" y="2011680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0704" y="182880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ACT-01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060704" y="20482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2139696"/>
            <a:ext cx="274320" cy="22860"/>
          </a:xfrm>
          <a:prstGeom prst="rect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026664"/>
            <a:ext cx="1920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" y="3337560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60704" y="315468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ACT-02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" y="33741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Académico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3465576"/>
            <a:ext cx="274320" cy="22860"/>
          </a:xfrm>
          <a:prstGeom prst="rect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352544"/>
            <a:ext cx="1920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" y="4663440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60704" y="448056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ACT-07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060704" y="47000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externo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68880" y="4791456"/>
            <a:ext cx="274320" cy="22860"/>
          </a:xfrm>
          <a:prstGeom prst="rect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20072" y="1700784"/>
            <a:ext cx="1920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66376" y="2011680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32136" y="182880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ACT-03 · ACT-05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0232136" y="20482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Empresarial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Repr. Organización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509760" y="2139696"/>
            <a:ext cx="210312" cy="22860"/>
          </a:xfrm>
          <a:prstGeom prst="rect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20072" y="3026664"/>
            <a:ext cx="1920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66376" y="3337560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232136" y="315468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ACT-04 · ACT-06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10232136" y="33741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Coordinador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509760" y="3465576"/>
            <a:ext cx="210312" cy="22860"/>
          </a:xfrm>
          <a:prstGeom prst="rect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20072" y="4352544"/>
            <a:ext cx="1920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66376" y="4663440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232136" y="448056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ACT-08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10232136" y="47000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de correo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509760" y="4791456"/>
            <a:ext cx="210312" cy="22860"/>
          </a:xfrm>
          <a:prstGeom prst="rect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V · ARQUITECTURA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capas desacopladas, comunicadas solo por HTTPS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01568" cy="2286000"/>
          </a:xfrm>
          <a:prstGeom prst="roundRect">
            <a:avLst>
              <a:gd name="adj" fmla="val 24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PRESENTACIÓN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04825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React 18 + TypeScript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834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· TanStack Query · Zod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Desplegada en la CDN de Vercel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14216" y="2587752"/>
            <a:ext cx="310896" cy="219456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554480"/>
            <a:ext cx="3401568" cy="2286000"/>
          </a:xfrm>
          <a:prstGeom prst="roundRect">
            <a:avLst>
              <a:gd name="adj" fmla="val 2400"/>
            </a:avLst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APLICACIÓN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26864" y="204825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Node.js 20 + Express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2834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Monolito modular · OpenAPI 3.1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 Docker en Render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54696" y="2587752"/>
            <a:ext cx="310896" cy="219456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554480"/>
            <a:ext cx="3401568" cy="2286000"/>
          </a:xfrm>
          <a:prstGeom prst="roundRect">
            <a:avLst>
              <a:gd name="adj" fmla="val 2400"/>
            </a:avLst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67344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DATOS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467344" y="204825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+ Prisma 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67344" y="2834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 declarativa · migraciones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serverless, escalado a cero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416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arquitectónicos adoptados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153912" y="40416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único entre capas: OpenAPI 3.1 sobre HTTPS · JSON · JWT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425696"/>
            <a:ext cx="544982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498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y backend separados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47731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repositorios y dos despliegues; el único contrato es OpenAPI.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90488" y="4425696"/>
            <a:ext cx="544982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28232" y="4498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no guarda sesión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28232" y="47731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petición porta su token: el backend escala o reinicia sin afectar a nadie.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285232"/>
            <a:ext cx="544982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53583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de datos nunca se expone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86384" y="56327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regla de negocio se aplica en el servidor.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90488" y="5285232"/>
            <a:ext cx="544982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28232" y="53583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en ambos extremos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28232" y="56327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esquema Zod valida en cliente y servidor; el cliente nunca es confiable.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II Y V · SERVICIOS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se eligió con matriz de decisión, no por costumbre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529584" cy="3246120"/>
          </a:xfrm>
          <a:prstGeom prst="roundRect">
            <a:avLst>
              <a:gd name="adj" fmla="val 1690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190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DESCARTADO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1031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/ WSDL / UDDI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761488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formal riguroso y catálogo WS-*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Verbosidad XML y consumo elevado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UDDI en desuso; solo sobrevive en banca legada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deficiente con el navegador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88536" y="1517904"/>
            <a:ext cx="3529584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7190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07992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ADOPTADO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1031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· nivel 2 de Richardson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761488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de facto de la industria en 2026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nativo desde el navegador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de aprendizaje baja para el equipo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Documentado con OpenAPI 3.1 y Postman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28432" y="1517904"/>
            <a:ext cx="3529584" cy="3246120"/>
          </a:xfrm>
          <a:prstGeom prst="roundRect">
            <a:avLst>
              <a:gd name="adj" fmla="val 1690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17190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47888" y="1719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DESCARTADO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21031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761488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Resuelve over-fetching y under-fetching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Complejidad del servidor y cacheo difícil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Expuesto a consultas anidadas maliciosas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patrón de consumo del sistema no lo necesita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56048"/>
            <a:ext cx="11094415" cy="896112"/>
          </a:xfrm>
          <a:prstGeom prst="roundRect">
            <a:avLst>
              <a:gd name="adj" fmla="val 6122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065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Convenciones de la API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40096"/>
            <a:ext cx="105457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Prefijo /api/v1  ·  sustantivos en plural del dominio  ·  JSON UTF-8 y fechas ISO 8601  ·  paginación con page y limit  ·  error uniforme { código, mensaje, detalles }  ·  Authorization: Bearer  ·  Idempotency-Key en creaciones críticas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V · EPÍGRAFE 5.4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conceptual: 16 entidades alrededor de la Asignación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8483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179222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carnet · carrera · avance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08760" y="2231136"/>
            <a:ext cx="155448" cy="201168"/>
          </a:xfrm>
          <a:prstGeom prst="down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82496" y="2231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88920" y="1463040"/>
            <a:ext cx="208483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16936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Plaza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916936" y="179222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· modalidad · cupos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49040" y="2231136"/>
            <a:ext cx="155448" cy="201168"/>
          </a:xfrm>
          <a:prstGeom prst="down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22776" y="2231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0" y="1463040"/>
            <a:ext cx="208483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57216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157216" y="179222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académico · cupo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89320" y="2231136"/>
            <a:ext cx="155448" cy="201168"/>
          </a:xfrm>
          <a:prstGeom prst="down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63056" y="2231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269480" y="1463040"/>
            <a:ext cx="208483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97496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TutorEmpresarial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397496" y="179222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 · organización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229600" y="2231136"/>
            <a:ext cx="155448" cy="201168"/>
          </a:xfrm>
          <a:prstGeom prst="down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03336" y="2231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509760" y="1463040"/>
            <a:ext cx="208483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37776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Periodo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637776" y="179222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mínimas · convocatoria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469880" y="2231136"/>
            <a:ext cx="155448" cy="201168"/>
          </a:xfrm>
          <a:prstGeom prst="down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643616" y="2231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N:1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2523744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261518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296265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 central del expediente · estado · fechas · horas acumuladas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37360" y="3529584"/>
            <a:ext cx="155448" cy="201168"/>
          </a:xfrm>
          <a:prstGeom prst="down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911096" y="35295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" y="3822192"/>
            <a:ext cx="262432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6656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PlanTrabajo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76656" y="4151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versiones · objetivos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44568" y="3529584"/>
            <a:ext cx="155448" cy="201168"/>
          </a:xfrm>
          <a:prstGeom prst="down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18304" y="35295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355848" y="3822192"/>
            <a:ext cx="262432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483864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Bitacora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3483864" y="4151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quincena · horas · estado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351776" y="3529584"/>
            <a:ext cx="155448" cy="201168"/>
          </a:xfrm>
          <a:prstGeom prst="down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25512" y="35295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63056" y="3822192"/>
            <a:ext cx="262432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91072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Evaluacion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291072" y="4151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rúbrica · puntaje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158984" y="3529584"/>
            <a:ext cx="155448" cy="201168"/>
          </a:xfrm>
          <a:prstGeom prst="downArrow">
            <a:avLst/>
          </a:prstGeom>
          <a:solidFill>
            <a:srgbClr val="B9BFCC"/>
          </a:solidFill>
          <a:ln w="12700">
            <a:solidFill>
              <a:srgbClr val="B9BFC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332720" y="35295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970264" y="3822192"/>
            <a:ext cx="2624328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098280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9098280" y="41513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SHA-256 · código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48640" y="4718304"/>
            <a:ext cx="6720840" cy="1097280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68096" y="4809744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 de soporte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768096" y="506577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(1:1 con Estudiante, Docente o TutorEmpresarial) · Organizacion (1:N Plaza) · Postulacion (1:1 opcional con Asignación) · Rubrica (1:N Evaluación) · Notificacion · Auditoria (registro inmutable, RNF-13)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589520" y="4718304"/>
            <a:ext cx="4050792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808976" y="4809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 que sostienen las reglas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7808976" y="50657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(estudianteId, periodoId) en estados activos → RN-02 · CHECK (cuposOcupados ≤ cupos) · borrado lógico en todo el expediente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V · FIGURA 5.2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física de despliegue prevista para la Fase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417320" cy="658368"/>
          </a:xfrm>
          <a:prstGeom prst="rect">
            <a:avLst/>
          </a:prstGeom>
          <a:solidFill>
            <a:srgbClr val="E7EAF2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46304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84832" y="1463040"/>
            <a:ext cx="95554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31136" y="1554480"/>
            <a:ext cx="9262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 (escritorio o móvil)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31136" y="1828800"/>
            <a:ext cx="9281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la comunicación viaja sobre HTTPS con TLS 1.3 y encabezado HSTS activo (RNF-06).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766560" y="2194560"/>
            <a:ext cx="182880" cy="182880"/>
          </a:xfrm>
          <a:prstGeom prst="down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50592"/>
            <a:ext cx="1417320" cy="822960"/>
          </a:xfrm>
          <a:prstGeom prst="rect">
            <a:avLst/>
          </a:prstGeom>
          <a:solidFill>
            <a:srgbClr val="E7EAF2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450592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84832" y="2450592"/>
            <a:ext cx="4663440" cy="822960"/>
          </a:xfrm>
          <a:prstGeom prst="roundRect">
            <a:avLst>
              <a:gd name="adj" fmla="val 555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31136" y="254203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de Vercel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31136" y="28163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Activos estáticos de la SPA · certificado TLS automático · caché global.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76872" y="2450592"/>
            <a:ext cx="4663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23176" y="254203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Enrutado de la API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23176" y="28163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peticiones /api/* se dirigen al dominio del backend.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3346704"/>
            <a:ext cx="182880" cy="182880"/>
          </a:xfrm>
          <a:prstGeom prst="down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02736"/>
            <a:ext cx="1417320" cy="822960"/>
          </a:xfrm>
          <a:prstGeom prst="rect">
            <a:avLst/>
          </a:prstGeom>
          <a:solidFill>
            <a:srgbClr val="E7EAF2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602736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84832" y="3602736"/>
            <a:ext cx="9555480" cy="822960"/>
          </a:xfrm>
          <a:prstGeom prst="roundRect">
            <a:avLst>
              <a:gd name="adj" fmla="val 5556"/>
            </a:avLst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31136" y="3694176"/>
            <a:ext cx="9262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— contenedor Docker con Node.js 20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231136" y="3968496"/>
            <a:ext cx="9281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 entorno cifradas · escalado a cero fuera de los períodos de uso · verificación periódica de salud.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66560" y="4498848"/>
            <a:ext cx="182880" cy="182880"/>
          </a:xfrm>
          <a:prstGeom prst="down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54880"/>
            <a:ext cx="1417320" cy="786384"/>
          </a:xfrm>
          <a:prstGeom prst="rect">
            <a:avLst/>
          </a:prstGeom>
          <a:solidFill>
            <a:srgbClr val="E7EAF2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4754880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servicios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084832" y="4754880"/>
            <a:ext cx="3108960" cy="786384"/>
          </a:xfrm>
          <a:prstGeom prst="roundRect">
            <a:avLst>
              <a:gd name="adj" fmla="val 5814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231136" y="484632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231136" y="51206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serverless · TLS · respaldo diario.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12664" y="4754880"/>
            <a:ext cx="3108960" cy="786384"/>
          </a:xfrm>
          <a:prstGeom prst="roundRect">
            <a:avLst>
              <a:gd name="adj" fmla="val 5814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58968" y="484632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58968" y="51206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y evidencias fuera del contenedor.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531352" y="4754880"/>
            <a:ext cx="3108960" cy="786384"/>
          </a:xfrm>
          <a:prstGeom prst="roundRect">
            <a:avLst>
              <a:gd name="adj" fmla="val 5814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77656" y="484632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Resend / SMTP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677656" y="51206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 saliente de notificaciones.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568756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568756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continua:  </a:t>
            </a:r>
            <a:pPr indent="0" marL="0"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→ GitHub Actions (estilo, pruebas y compilación) → despliegue automático  ·  ramas: feature/* · develop · main.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VI · FIGURA 6.1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navegación del rol Estudiante (modelo UWE)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402336"/>
          </a:xfrm>
          <a:prstGeom prst="roundRect">
            <a:avLst>
              <a:gd name="adj" fmla="val 1363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105457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RAÍZ  /   —   aplicación SIGEPP · el menú de primer nivel se filtra dinámicamente según los permisos contenidos en el token («menu»)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3529584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94560"/>
            <a:ext cx="1737360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945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/inicio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54203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«navigationClass» «index»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816352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estado del trámite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Pendientes de acción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 recientes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88536" y="2029968"/>
            <a:ext cx="3529584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71416" y="2194560"/>
            <a:ext cx="1737360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71416" y="21945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/plazas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71416" y="254203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«query» «index»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07992" y="2816352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filtros serializado en la URL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 paginado de plazas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/plazas/{id} — detalle, ficha de la organización y formulario de postulación «processClass»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28432" y="2029968"/>
            <a:ext cx="3529584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11312" y="2194560"/>
            <a:ext cx="1737360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11312" y="21945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/postulaciones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11312" y="254203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«index» «processClass»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247888" y="2816352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 agrupado por estado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Retirar una postulación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trasladado aquí tras el tree testing (T2)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078224"/>
            <a:ext cx="3529584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242816"/>
            <a:ext cx="1737360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2428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/expediente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5902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«guidedTour»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" y="4864608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de tiempo de 6 hitos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/plan — editar y ver versiones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/bitacoras — nueva, detalle, borrador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/documentos — descargar PDF verificable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88536" y="4078224"/>
            <a:ext cx="3529584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71416" y="4242816"/>
            <a:ext cx="1737360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71416" y="42428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/notificaciones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471416" y="45902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«index»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07992" y="4864608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 completo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 directo al recurso relacionado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28432" y="4078224"/>
            <a:ext cx="3529584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11312" y="4242816"/>
            <a:ext cx="1737360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11312" y="42428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/perfil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211312" y="45902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«processClass»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247888" y="4864608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personales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Constancia académica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cambio de contraseña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VI · DISEÑO NAVEGACIONAL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árbol de contenidos se validó con usuarios reales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17904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3036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éxito por tarea (%) · 12 participantes: 8 estudiantes, 2 docentes tutores y 2 administrativos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589520" y="1517904"/>
            <a:ext cx="4050792" cy="109728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16276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78 %  →  93 %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1031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éxito global tras reestructurar dos ramas del árbol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761488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derivados del estudio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89520" y="3072384"/>
            <a:ext cx="405079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0" y="3291840"/>
            <a:ext cx="457200" cy="310896"/>
          </a:xfrm>
          <a:prstGeom prst="roundRect">
            <a:avLst>
              <a:gd name="adj" fmla="val 29412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0" y="329184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357616" y="3127248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estado se traslada a la vista del expediente: 7 de 12 lo buscaban ahí.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589520" y="3968496"/>
            <a:ext cx="405079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0" y="4187952"/>
            <a:ext cx="457200" cy="310896"/>
          </a:xfrm>
          <a:prstGeom prst="roundRect">
            <a:avLst>
              <a:gd name="adj" fmla="val 29412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0" y="418795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357616" y="402336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«Documentos» se renombra a «Mis documentos (cartas y constancias)».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589520" y="4864608"/>
            <a:ext cx="405079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0" y="5084064"/>
            <a:ext cx="457200" cy="310896"/>
          </a:xfrm>
          <a:prstGeom prst="roundRect">
            <a:avLst>
              <a:gd name="adj" fmla="val 29412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0" y="508406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357616" y="491947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«Plan de trabajo» sube al segundo nivel del árbol.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5687568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horas de estudio corrigieron cuatro problemas de estructura y vocabulario que habrían sido mucho más costosos de resolver una vez implementada la interfaz.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VI · DISEÑO DE PRESENTACIÓN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Ocho wireframes de alta fidelidad, trazados a requisitos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262432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37360"/>
            <a:ext cx="2194560" cy="329184"/>
          </a:xfrm>
          <a:prstGeom prst="rect">
            <a:avLst/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737360"/>
            <a:ext cx="5029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17373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373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/inicio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213969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 inicio del Estudiante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26334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RF-23, RF-24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55848" y="1517904"/>
            <a:ext cx="262432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75304" y="1737360"/>
            <a:ext cx="2194560" cy="329184"/>
          </a:xfrm>
          <a:prstGeom prst="rect">
            <a:avLst/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5304" y="1737360"/>
            <a:ext cx="5029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75304" y="17373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133088" y="17373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/plazas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575304" y="213969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Bolsa de plazas con filtros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575304" y="26334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RF-10 · CUN-01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63056" y="1517904"/>
            <a:ext cx="262432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82512" y="1737360"/>
            <a:ext cx="2194560" cy="329184"/>
          </a:xfrm>
          <a:prstGeom prst="rect">
            <a:avLst/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1737360"/>
            <a:ext cx="5029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82512" y="17373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WF-03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940296" y="17373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/plazas/{id}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213969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de plaza y postulación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26334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RF-11 · CU-04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970264" y="1517904"/>
            <a:ext cx="262432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9720" y="1737360"/>
            <a:ext cx="2194560" cy="329184"/>
          </a:xfrm>
          <a:prstGeom prst="rect">
            <a:avLst/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89720" y="1737360"/>
            <a:ext cx="5029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89720" y="173736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WF-04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747504" y="17373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/expediente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213969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Expediente y bitácoras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189720" y="26334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RF-16, RF-18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3200400"/>
            <a:ext cx="262432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" y="3419856"/>
            <a:ext cx="2194560" cy="329184"/>
          </a:xfrm>
          <a:prstGeom prst="rect">
            <a:avLst/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8096" y="3419856"/>
            <a:ext cx="5029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8096" y="34198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WF-05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325880" y="34198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/expediente/documentos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68096" y="3822192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documentos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68096" y="43159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RF-21, RF-22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55848" y="3200400"/>
            <a:ext cx="262432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75304" y="3419856"/>
            <a:ext cx="2194560" cy="329184"/>
          </a:xfrm>
          <a:prstGeom prst="rect">
            <a:avLst/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75304" y="3419856"/>
            <a:ext cx="5029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575304" y="34198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WF-06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133088" y="34198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/panel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3575304" y="3822192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Bandeja de aprobaciones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3575304" y="43159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RF-09, RF-13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63056" y="3200400"/>
            <a:ext cx="262432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82512" y="3419856"/>
            <a:ext cx="2194560" cy="329184"/>
          </a:xfrm>
          <a:prstGeom prst="rect">
            <a:avLst/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82512" y="3419856"/>
            <a:ext cx="5029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82512" y="34198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WF-07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940296" y="34198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/org/plazas/nueva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382512" y="3822192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Publicación de plaza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6382512" y="43159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RF-08 · CUN-04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970264" y="3200400"/>
            <a:ext cx="262432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89720" y="3419856"/>
            <a:ext cx="2194560" cy="329184"/>
          </a:xfrm>
          <a:prstGeom prst="rect">
            <a:avLst/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89720" y="3419856"/>
            <a:ext cx="5029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189720" y="34198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WF-08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9747504" y="34198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/indicadores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9189720" y="3822192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de indicadores</a:t>
            </a:r>
            <a:endParaRPr lang="en-US" sz="1250" dirty="0"/>
          </a:p>
        </p:txBody>
      </p:sp>
      <p:sp>
        <p:nvSpPr>
          <p:cNvPr id="59" name="Text 57"/>
          <p:cNvSpPr txBox="1"/>
          <p:nvPr/>
        </p:nvSpPr>
        <p:spPr>
          <a:xfrm>
            <a:off x="9189720" y="431596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RF-25 · CU-15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48640" y="4956048"/>
            <a:ext cx="11094415" cy="896112"/>
          </a:xfrm>
          <a:prstGeom prst="roundRect">
            <a:avLst>
              <a:gd name="adj" fmla="val 6122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22960" y="4956048"/>
            <a:ext cx="1054577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diseño definido: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#1F3864 y #2E5496 · tipografía Inter con escala de 12 a 32 px · rejilla de 4 px · radio de 8 px en tarjetas · accesibilidad WCAG 2.2 nivel AA con contraste mínimo 4.5:1, navegación completa por teclado y estados que nunca dependen solo del color.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VII · FIGURA 7.1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general: 11 semanas, del 15/08 al 07/11 de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0" y="1481328"/>
            <a:ext cx="7315" cy="4160520"/>
          </a:xfrm>
          <a:prstGeom prst="rect">
            <a:avLst/>
          </a:prstGeom>
          <a:solidFill>
            <a:srgbClr val="E4E6EC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22392" y="1481328"/>
            <a:ext cx="7315" cy="4160520"/>
          </a:xfrm>
          <a:prstGeom prst="rect">
            <a:avLst/>
          </a:prstGeom>
          <a:solidFill>
            <a:srgbClr val="E4E6EC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4184" y="1481328"/>
            <a:ext cx="7315" cy="4160520"/>
          </a:xfrm>
          <a:prstGeom prst="rect">
            <a:avLst/>
          </a:prstGeom>
          <a:solidFill>
            <a:srgbClr val="E4E6EC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65976" y="1481328"/>
            <a:ext cx="7315" cy="4160520"/>
          </a:xfrm>
          <a:prstGeom prst="rect">
            <a:avLst/>
          </a:prstGeom>
          <a:solidFill>
            <a:srgbClr val="E4E6EC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87768" y="1481328"/>
            <a:ext cx="7315" cy="4160520"/>
          </a:xfrm>
          <a:prstGeom prst="rect">
            <a:avLst/>
          </a:prstGeom>
          <a:solidFill>
            <a:srgbClr val="E4E6EC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09560" y="1481328"/>
            <a:ext cx="7315" cy="4160520"/>
          </a:xfrm>
          <a:prstGeom prst="rect">
            <a:avLst/>
          </a:prstGeom>
          <a:solidFill>
            <a:srgbClr val="E4E6EC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1352" y="1481328"/>
            <a:ext cx="7315" cy="4160520"/>
          </a:xfrm>
          <a:prstGeom prst="rect">
            <a:avLst/>
          </a:prstGeom>
          <a:solidFill>
            <a:srgbClr val="E4E6EC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53144" y="1481328"/>
            <a:ext cx="7315" cy="4160520"/>
          </a:xfrm>
          <a:prstGeom prst="rect">
            <a:avLst/>
          </a:prstGeom>
          <a:solidFill>
            <a:srgbClr val="E4E6EC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74936" y="1481328"/>
            <a:ext cx="7315" cy="4160520"/>
          </a:xfrm>
          <a:prstGeom prst="rect">
            <a:avLst/>
          </a:prstGeom>
          <a:solidFill>
            <a:srgbClr val="E4E6EC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96728" y="1481328"/>
            <a:ext cx="7315" cy="4160520"/>
          </a:xfrm>
          <a:prstGeom prst="rect">
            <a:avLst/>
          </a:prstGeom>
          <a:solidFill>
            <a:srgbClr val="E4E6EC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18520" y="1481328"/>
            <a:ext cx="7315" cy="4160520"/>
          </a:xfrm>
          <a:prstGeom prst="rect">
            <a:avLst/>
          </a:prstGeom>
          <a:solidFill>
            <a:srgbClr val="E4E6EC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40312" y="1481328"/>
            <a:ext cx="7315" cy="4160520"/>
          </a:xfrm>
          <a:prstGeom prst="rect">
            <a:avLst/>
          </a:prstGeom>
          <a:solidFill>
            <a:srgbClr val="E4E6EC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48132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22392" y="148132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044184" y="148132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665976" y="148132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287768" y="148132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148132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531352" y="148132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153144" y="148132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774936" y="148132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S9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396728" y="148132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018520" y="148132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1773936"/>
            <a:ext cx="11094415" cy="214884"/>
          </a:xfrm>
          <a:prstGeom prst="rect">
            <a:avLst/>
          </a:prstGeom>
          <a:solidFill>
            <a:srgbClr val="E7EAF2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1773936"/>
            <a:ext cx="59436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Ingeniería de Requisitos y Arquitectura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1988820"/>
            <a:ext cx="11094415" cy="214884"/>
          </a:xfrm>
          <a:prstGeom prst="rect">
            <a:avLst/>
          </a:prstGeom>
          <a:solidFill>
            <a:srgbClr val="F7F7F9"/>
          </a:solidFill>
          <a:ln w="12700">
            <a:solidFill>
              <a:srgbClr val="F7F7F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944" y="1988820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Levantamiento de la situación actual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2034540"/>
            <a:ext cx="1152144" cy="123444"/>
          </a:xfrm>
          <a:prstGeom prst="roundRect">
            <a:avLst>
              <a:gd name="adj" fmla="val 296296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4944" y="2203704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1.2–1.5 Modelado, requisitos UWE, arquitectura y tree testing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68112" y="2249424"/>
            <a:ext cx="1152144" cy="123444"/>
          </a:xfrm>
          <a:prstGeom prst="roundRect">
            <a:avLst>
              <a:gd name="adj" fmla="val 296296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2418588"/>
            <a:ext cx="11094415" cy="214884"/>
          </a:xfrm>
          <a:prstGeom prst="rect">
            <a:avLst/>
          </a:prstGeom>
          <a:solidFill>
            <a:srgbClr val="F7F7F9"/>
          </a:solidFill>
          <a:ln w="12700">
            <a:solidFill>
              <a:srgbClr val="F7F7F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4944" y="2418588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 Wireframes de alta fidelidad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89904" y="2464308"/>
            <a:ext cx="1152144" cy="123444"/>
          </a:xfrm>
          <a:prstGeom prst="roundRect">
            <a:avLst>
              <a:gd name="adj" fmla="val 296296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4944" y="2633472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Entrega Fase 1 — 06/09/2026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94576" y="2670048"/>
            <a:ext cx="164592" cy="164592"/>
          </a:xfrm>
          <a:prstGeom prst="diamond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2848356"/>
            <a:ext cx="11094415" cy="214884"/>
          </a:xfrm>
          <a:prstGeom prst="rect">
            <a:avLst/>
          </a:prstGeom>
          <a:solidFill>
            <a:srgbClr val="E7EAF2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8368" y="2848356"/>
            <a:ext cx="59436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— Desarrollo backend, frontend y servicios web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94944" y="3063240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2.1–2.2 Repositorio, esquema de BD y migraciones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11696" y="3108960"/>
            <a:ext cx="1152144" cy="123444"/>
          </a:xfrm>
          <a:prstGeom prst="roundRect">
            <a:avLst>
              <a:gd name="adj" fmla="val 29629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3278124"/>
            <a:ext cx="11094415" cy="214884"/>
          </a:xfrm>
          <a:prstGeom prst="rect">
            <a:avLst/>
          </a:prstGeom>
          <a:solidFill>
            <a:srgbClr val="F7F7F9"/>
          </a:solidFill>
          <a:ln w="12700">
            <a:solidFill>
              <a:srgbClr val="F7F7F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4944" y="3278124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API: autenticación, usuarios y organizaciones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33488" y="3323844"/>
            <a:ext cx="1152144" cy="123444"/>
          </a:xfrm>
          <a:prstGeom prst="roundRect">
            <a:avLst>
              <a:gd name="adj" fmla="val 29629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94944" y="3493008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API: plazas, postulaciones y asignaciones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955280" y="3538728"/>
            <a:ext cx="1152144" cy="123444"/>
          </a:xfrm>
          <a:prstGeom prst="roundRect">
            <a:avLst>
              <a:gd name="adj" fmla="val 29629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3707892"/>
            <a:ext cx="11094415" cy="214884"/>
          </a:xfrm>
          <a:prstGeom prst="rect">
            <a:avLst/>
          </a:prstGeom>
          <a:solidFill>
            <a:srgbClr val="F7F7F9"/>
          </a:solidFill>
          <a:ln w="12700">
            <a:solidFill>
              <a:srgbClr val="F7F7F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94944" y="3707892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API: plan, bitácoras, evaluación y documentos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577072" y="3753612"/>
            <a:ext cx="1152144" cy="123444"/>
          </a:xfrm>
          <a:prstGeom prst="roundRect">
            <a:avLst>
              <a:gd name="adj" fmla="val 29629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4944" y="3922776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 Frontend: base, autenticación y bolsa de plazas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333488" y="3968496"/>
            <a:ext cx="1773936" cy="123444"/>
          </a:xfrm>
          <a:prstGeom prst="roundRect">
            <a:avLst>
              <a:gd name="adj" fmla="val 296296"/>
            </a:avLst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" y="4137660"/>
            <a:ext cx="11094415" cy="214884"/>
          </a:xfrm>
          <a:prstGeom prst="rect">
            <a:avLst/>
          </a:prstGeom>
          <a:solidFill>
            <a:srgbClr val="F7F7F9"/>
          </a:solidFill>
          <a:ln w="12700">
            <a:solidFill>
              <a:srgbClr val="F7F7F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94944" y="4137660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 Frontend: expediente, bitácoras y paneles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577072" y="4183380"/>
            <a:ext cx="1773936" cy="123444"/>
          </a:xfrm>
          <a:prstGeom prst="roundRect">
            <a:avLst>
              <a:gd name="adj" fmla="val 296296"/>
            </a:avLst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94944" y="4352544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2.8–2.9 OpenAPI, Postman y manual de usuario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198864" y="4398264"/>
            <a:ext cx="1773936" cy="123444"/>
          </a:xfrm>
          <a:prstGeom prst="roundRect">
            <a:avLst>
              <a:gd name="adj" fmla="val 296296"/>
            </a:avLst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4567428"/>
            <a:ext cx="11094415" cy="214884"/>
          </a:xfrm>
          <a:prstGeom prst="rect">
            <a:avLst/>
          </a:prstGeom>
          <a:solidFill>
            <a:srgbClr val="F7F7F9"/>
          </a:solidFill>
          <a:ln w="12700">
            <a:solidFill>
              <a:srgbClr val="F7F7F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94944" y="4567428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Entrega Fase 2 — 18/10/2026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0625328" y="4604004"/>
            <a:ext cx="164592" cy="164592"/>
          </a:xfrm>
          <a:prstGeom prst="diamond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4782312"/>
            <a:ext cx="11094415" cy="214884"/>
          </a:xfrm>
          <a:prstGeom prst="rect">
            <a:avLst/>
          </a:prstGeom>
          <a:solidFill>
            <a:srgbClr val="E7EAF2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58368" y="4782312"/>
            <a:ext cx="59436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— Despliegue y seguridad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48640" y="4997196"/>
            <a:ext cx="11094415" cy="214884"/>
          </a:xfrm>
          <a:prstGeom prst="rect">
            <a:avLst/>
          </a:prstGeom>
          <a:solidFill>
            <a:srgbClr val="F7F7F9"/>
          </a:solidFill>
          <a:ln w="12700">
            <a:solidFill>
              <a:srgbClr val="F7F7F9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94944" y="4997196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3.1–3.2 Despliegue, CI/CD y endurecimiento de seguridad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0442448" y="5042916"/>
            <a:ext cx="1152144" cy="123444"/>
          </a:xfrm>
          <a:prstGeom prst="roundRect">
            <a:avLst>
              <a:gd name="adj" fmla="val 296296"/>
            </a:avLst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94944" y="5212080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3.3–3.4 Pruebas, documento final y defensa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1064240" y="5257800"/>
            <a:ext cx="530352" cy="123444"/>
          </a:xfrm>
          <a:prstGeom prst="roundRect">
            <a:avLst>
              <a:gd name="adj" fmla="val 296296"/>
            </a:avLst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8640" y="5426964"/>
            <a:ext cx="11094415" cy="214884"/>
          </a:xfrm>
          <a:prstGeom prst="rect">
            <a:avLst/>
          </a:prstGeom>
          <a:solidFill>
            <a:srgbClr val="F7F7F9"/>
          </a:solidFill>
          <a:ln w="12700">
            <a:solidFill>
              <a:srgbClr val="F7F7F9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94944" y="5426964"/>
            <a:ext cx="411480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Defensa final — 07/11/2026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1247120" y="5463540"/>
            <a:ext cx="164592" cy="164592"/>
          </a:xfrm>
          <a:prstGeom prst="diamond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8640" y="5833872"/>
            <a:ext cx="274320" cy="146304"/>
          </a:xfrm>
          <a:prstGeom prst="roundRect">
            <a:avLst>
              <a:gd name="adj" fmla="val 250000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14400" y="5760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completada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200400" y="5833872"/>
            <a:ext cx="274320" cy="146304"/>
          </a:xfrm>
          <a:prstGeom prst="roundRect">
            <a:avLst>
              <a:gd name="adj" fmla="val 2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566160" y="5760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— en curso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852160" y="5833872"/>
            <a:ext cx="274320" cy="146304"/>
          </a:xfrm>
          <a:prstGeom prst="roundRect">
            <a:avLst>
              <a:gd name="adj" fmla="val 250000"/>
            </a:avLst>
          </a:prstGeom>
          <a:solidFill>
            <a:srgbClr val="3A5FA8"/>
          </a:solidFill>
          <a:ln w="12700">
            <a:solidFill>
              <a:srgbClr val="3A5FA8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217920" y="5760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503920" y="5833872"/>
            <a:ext cx="274320" cy="146304"/>
          </a:xfrm>
          <a:prstGeom prst="roundRect">
            <a:avLst>
              <a:gd name="adj" fmla="val 250000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869680" y="5760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Hito de entrega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VII · PLANIFICACIÓN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adaptado al calendario académico: 5 sprints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99616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66928" cy="365760"/>
          </a:xfrm>
          <a:prstGeom prst="roundRect">
            <a:avLst>
              <a:gd name="adj" fmla="val 25000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49961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15/08 – 06/09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49961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Comprender el problema, especificar requisitos y decidir la arquitectura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49961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de la Fase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58568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404872"/>
            <a:ext cx="566928" cy="365760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40487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44752" y="22585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07/09 – 20/09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2585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Cimientos técnicos: repositorios, esquema, migraciones, autenticación y RBAC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2585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 sesión funcional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163824"/>
            <a:ext cx="566928" cy="365760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16382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44752" y="30175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21/09 – 04/10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30175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del negocio: organizaciones, plazas, aprobación y postulaciones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30175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con RN-01 a RN-04 probadas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76472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922776"/>
            <a:ext cx="566928" cy="365760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92277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444752" y="377647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05/10 – 18/10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377647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Expediente: asignaciones, plan de trabajo, bitácoras y vistas principales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377647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completo + OpenAPI publicada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535424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681728"/>
            <a:ext cx="566928" cy="365760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468172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444752" y="453542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19/10 – 01/11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926080" y="453542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Evaluación, generación de documentos, indicadores y despliegue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53542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pública operativa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294376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7F7F9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5440680"/>
            <a:ext cx="566928" cy="365760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544068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444752" y="529437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02/11 – 07/11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2926080" y="529437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Endurecimiento, pruebas, documento final y preparación de la defensa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183880" y="52943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final y defensa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0167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en GitHub Projects, límite de 2 tarjetas por integrante · rama feature/RF-XX · Conventional Commits · sin integración a main sin revisión.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VII · GESTIÓN DE RIESGOS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Nueve riesgos identificados, cada uno con mitigación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1463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623560" y="1463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Prob. / Impacto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mitigación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73936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938528"/>
            <a:ext cx="566928" cy="329184"/>
          </a:xfrm>
          <a:prstGeom prst="roundRect">
            <a:avLst>
              <a:gd name="adj" fmla="val 2777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193852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77393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Subestimación del módulo de evaluación con rúbricas parametrizables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23560" y="1938528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193852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19088" y="1938528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9088" y="193852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177393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Rúbrica fija primero, parametrización después, en historias separadas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532888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2697480"/>
            <a:ext cx="566928" cy="329184"/>
          </a:xfrm>
          <a:prstGeom prst="roundRect">
            <a:avLst>
              <a:gd name="adj" fmla="val 2777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269748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253288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de la capa gratuita: arranque en frío y cuota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23560" y="2697480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23560" y="269748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19088" y="2697480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19088" y="269748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Bajo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253288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periódica de salud y archivos fuera del contenedor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291840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3456432"/>
            <a:ext cx="566928" cy="329184"/>
          </a:xfrm>
          <a:prstGeom prst="roundRect">
            <a:avLst>
              <a:gd name="adj" fmla="val 2777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34564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R-07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32918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Solapamiento con exámenes y otras asignaturas del quinto año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23560" y="3456432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23560" y="3456432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19088" y="3456432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19088" y="3456432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329184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Holgura reservada en S3 y S4; prioridad alta primero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050792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4215384"/>
            <a:ext cx="566928" cy="329184"/>
          </a:xfrm>
          <a:prstGeom prst="roundRect">
            <a:avLst>
              <a:gd name="adj" fmla="val 2777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" y="421538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417320" y="405079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Retraso en la validación de requisitos por la coordinación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623560" y="4215384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23560" y="421538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19088" y="4215384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19088" y="421538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498080" y="405079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congelado; todo cambio entra como solicitud formal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4809744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3232" y="4974336"/>
            <a:ext cx="566928" cy="329184"/>
          </a:xfrm>
          <a:prstGeom prst="roundRect">
            <a:avLst>
              <a:gd name="adj" fmla="val 2777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13232" y="497433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R-05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417320" y="480974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Aportes desiguales entre integrantes del equipo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623560" y="4974336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623560" y="497433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19088" y="4974336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19088" y="497433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7498080" y="480974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Tarjetas asignadas y revisión de commits en cada retrospectiva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5568696"/>
            <a:ext cx="11094415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3232" y="5733288"/>
            <a:ext cx="566928" cy="329184"/>
          </a:xfrm>
          <a:prstGeom prst="roundRect">
            <a:avLst>
              <a:gd name="adj" fmla="val 2777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13232" y="573328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R-08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417320" y="556869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 de seguridad detectada en la Fase 3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623560" y="5733288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623560" y="573328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19088" y="5733288"/>
            <a:ext cx="713232" cy="329184"/>
          </a:xfrm>
          <a:prstGeom prst="roundRect">
            <a:avLst>
              <a:gd name="adj" fmla="val 27778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19088" y="573328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7498080" y="556869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 seguridad desde S2 y análisis de dependencias en CI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632764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muestran los seis riesgos de mayor exposición. La matriz completa (R-01 a R-09) figura en la Tabla 7.4 del documento.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LA FASE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queda demostrado y qué sigue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6858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792224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093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medido, no supuesto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83664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días de demora, hasta 5 transcripciones del mismo dato y ausencia total de trazabilidad: deficiencias estructurales que no se corrigen con ajustes administrativos.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6858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816352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33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UWE resultó adecuada al dominio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907792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casos de uso de procesos y navegacionales evidenció problemas de arquitectura de información que un análisis funcional convencional no habría detectado.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6858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840480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justificada por restricciones reales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31920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capas desacopladas y monolito modular responden a las tres limitaciones de la organización: sin servidores, sin presupuesto y sin personal de TI.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590288"/>
            <a:ext cx="6858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864608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864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6817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cerrado para la Fase 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956048"/>
            <a:ext cx="5943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RF congelados, contratos de la API definidos y decisiones arquitectónicas documentadas y defendibles.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80960" y="1517904"/>
            <a:ext cx="3959352" cy="4169664"/>
          </a:xfrm>
          <a:prstGeom prst="roundRect">
            <a:avLst>
              <a:gd name="adj" fmla="val 138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18704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 · FASE 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36992" y="2267712"/>
            <a:ext cx="128016" cy="128016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93024" y="215798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de concepto vertical de un módulo completo antes de desarrollar en amplitud (mitiga R-04).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36992" y="2953512"/>
            <a:ext cx="128016" cy="128016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93024" y="284378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Escribir la especificación OpenAPI antes de implementar cada endpoint, no después.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36992" y="3639312"/>
            <a:ext cx="128016" cy="128016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93024" y="352958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Cargar datos de prueba realistas desde S1: 100 estudiantes y 30 plazas, para validar el RNF-01.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36992" y="4325112"/>
            <a:ext cx="128016" cy="128016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93024" y="421538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Incorporar a la coordinación como revisora en las demostraciones de fin de sprint.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36992" y="5010912"/>
            <a:ext cx="128016" cy="128016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93024" y="490118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cada decisión arquitectónica relevante como ADR en el repositorio.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Fase 1 — Ingeniería de Requisitos y Arquitectura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728655" y="6327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2E5496">
              <a:alpha val="45000"/>
            </a:srgbClr>
          </a:solidFill>
          <a:ln w="12700">
            <a:solidFill>
              <a:srgbClr val="2E549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1097280"/>
            <a:ext cx="3108960" cy="3108960"/>
          </a:xfrm>
          <a:prstGeom prst="ellipse">
            <a:avLst/>
          </a:prstGeom>
          <a:solidFill>
            <a:srgbClr val="ED7D31">
              <a:alpha val="70000"/>
            </a:srgbClr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031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completada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cerrado · requisitos especificados · arquitectura decidida y justificada.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 Quedamos atentos a sus preguntas y observaciones.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2624328" cy="1051560"/>
          </a:xfrm>
          <a:prstGeom prst="roundRect">
            <a:avLst>
              <a:gd name="adj" fmla="val 5217"/>
            </a:avLst>
          </a:prstGeom>
          <a:solidFill>
            <a:srgbClr val="2E5496">
              <a:alpha val="55000"/>
            </a:srgbClr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44074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48646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funcionales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5848" y="4297680"/>
            <a:ext cx="2624328" cy="1051560"/>
          </a:xfrm>
          <a:prstGeom prst="roundRect">
            <a:avLst>
              <a:gd name="adj" fmla="val 5217"/>
            </a:avLst>
          </a:prstGeom>
          <a:solidFill>
            <a:srgbClr val="2E5496">
              <a:alpha val="55000"/>
            </a:srgbClr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7016" y="44074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557016" y="48646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validados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4297680"/>
            <a:ext cx="2624328" cy="1051560"/>
          </a:xfrm>
          <a:prstGeom prst="roundRect">
            <a:avLst>
              <a:gd name="adj" fmla="val 5217"/>
            </a:avLst>
          </a:prstGeom>
          <a:solidFill>
            <a:srgbClr val="2E5496">
              <a:alpha val="55000"/>
            </a:srgbClr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64224" y="44074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93 %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364224" y="48646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éxito navegacional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70264" y="4297680"/>
            <a:ext cx="2624328" cy="1051560"/>
          </a:xfrm>
          <a:prstGeom prst="roundRect">
            <a:avLst>
              <a:gd name="adj" fmla="val 5217"/>
            </a:avLst>
          </a:prstGeom>
          <a:solidFill>
            <a:srgbClr val="2E5496">
              <a:alpha val="55000"/>
            </a:srgbClr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71432" y="44074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171432" y="48646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 planificados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43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SIGEPP · Diseño de Sistemas en Internet · UNI–RUSB · Agosto de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SIGEPP — Avance Fase 1</dc:title>
  <dc:subject>PptxGenJS Presentation</dc:subject>
  <dc:creator>Leandro Enrique Lacayo Matus</dc:creator>
  <cp:lastModifiedBy>Leandro Enrique Lacayo Matus</cp:lastModifiedBy>
  <cp:revision>1</cp:revision>
  <dcterms:created xsi:type="dcterms:W3CDTF">2026-09-05T18:46:00Z</dcterms:created>
  <dcterms:modified xsi:type="dcterms:W3CDTF">2026-09-05T18:46:00Z</dcterms:modified>
</cp:coreProperties>
</file>